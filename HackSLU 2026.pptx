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4"/>
  </p:sldMasterIdLst>
  <p:sldIdLst>
    <p:sldId id="256" r:id="rId5"/>
    <p:sldId id="262" r:id="rId6"/>
    <p:sldId id="264" r:id="rId7"/>
    <p:sldId id="263" r:id="rId8"/>
    <p:sldId id="257" r:id="rId9"/>
    <p:sldId id="258" r:id="rId10"/>
    <p:sldId id="259" r:id="rId11"/>
    <p:sldId id="260" r:id="rId12"/>
    <p:sldId id="26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587B16-B820-1A55-1BDD-793B2A613991}" v="25" dt="2026-02-22T15:17:31.421"/>
    <p1510:client id="{21D74AC3-C845-F85F-10E1-357FF09837A8}" v="17" dt="2026-02-22T01:29:03.230"/>
    <p1510:client id="{2F7CA861-8042-4375-9E7D-11B31D022204}" v="230" dt="2026-02-22T15:24:02.919"/>
    <p1510:client id="{3A25D112-D95E-C9FF-1277-38FD92B25CA3}" v="33" dt="2026-02-22T05:15:09.908"/>
    <p1510:client id="{48BD0458-36C6-1989-763E-C6962B653161}" v="45" dt="2026-02-22T15:22:15.863"/>
    <p1510:client id="{53463DCC-0A21-CC2A-5287-1AE1A00222D9}" v="211" dt="2026-02-22T01:37:14.264"/>
    <p1510:client id="{79B446B6-436C-D861-09EC-941C0A7C3BB0}" v="482" dt="2026-02-22T02:51:12.739"/>
    <p1510:client id="{7EFDF287-BDEB-96C1-4F52-D0813FAF444B}" v="488" dt="2026-02-22T06:42:13.928"/>
    <p1510:client id="{A727C812-03B1-310C-698B-F990237B35B6}" v="1237" dt="2026-02-22T05:53:10.437"/>
    <p1510:client id="{B6511E9B-898A-8976-8B79-C34D53410C18}" v="871" dt="2026-02-22T03:04:02.906"/>
    <p1510:client id="{B7935812-10F5-35E2-3B4D-2D8A1CC1D997}" v="8" dt="2026-02-22T04:24:39.418"/>
    <p1510:client id="{DF379D71-8298-5518-C274-9AA1DEAA49BE}" v="2" dt="2026-02-22T06:37:37.6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1" d="100"/>
          <a:sy n="101" d="100"/>
        </p:scale>
        <p:origin x="392" y="1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A4C3E6F-52CD-4240-BB28-65A7CEDABE80}"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3076536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4C3E6F-52CD-4240-BB28-65A7CEDABE80}"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3972349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4C3E6F-52CD-4240-BB28-65A7CEDABE80}"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1891359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A4C3E6F-52CD-4240-BB28-65A7CEDABE80}"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4225928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A4C3E6F-52CD-4240-BB28-65A7CEDABE80}"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1890002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A4C3E6F-52CD-4240-BB28-65A7CEDABE80}"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264279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4C3E6F-52CD-4240-BB28-65A7CEDABE80}"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97876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4C3E6F-52CD-4240-BB28-65A7CEDABE80}"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2423579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4C3E6F-52CD-4240-BB28-65A7CEDABE80}"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2911985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4C3E6F-52CD-4240-BB28-65A7CEDABE80}"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3814298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4C3E6F-52CD-4240-BB28-65A7CEDABE80}"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24975672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4C3E6F-52CD-4240-BB28-65A7CEDABE80}"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248725-848E-4B59-B351-D21E34B4AB1A}"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10686728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4C3E6F-52CD-4240-BB28-65A7CEDABE80}"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19349045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A4C3E6F-52CD-4240-BB28-65A7CEDABE80}"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39041084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A4C3E6F-52CD-4240-BB28-65A7CEDABE80}"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33204672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4C3E6F-52CD-4240-BB28-65A7CEDABE80}"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3476375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4C3E6F-52CD-4240-BB28-65A7CEDABE80}"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248725-848E-4B59-B351-D21E34B4AB1A}" type="slidenum">
              <a:rPr lang="en-US" smtClean="0"/>
              <a:t>‹#›</a:t>
            </a:fld>
            <a:endParaRPr lang="en-US"/>
          </a:p>
        </p:txBody>
      </p:sp>
    </p:spTree>
    <p:extLst>
      <p:ext uri="{BB962C8B-B14F-4D97-AF65-F5344CB8AC3E}">
        <p14:creationId xmlns:p14="http://schemas.microsoft.com/office/powerpoint/2010/main" val="70443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EA4C3E6F-52CD-4240-BB28-65A7CEDABE80}" type="datetimeFigureOut">
              <a:rPr lang="en-US" smtClean="0"/>
              <a:t>2/22/2026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1248725-848E-4B59-B351-D21E34B4AB1A}" type="slidenum">
              <a:rPr lang="en-US" smtClean="0"/>
              <a:t>‹#›</a:t>
            </a:fld>
            <a:endParaRPr lang="en-US"/>
          </a:p>
        </p:txBody>
      </p:sp>
    </p:spTree>
    <p:extLst>
      <p:ext uri="{BB962C8B-B14F-4D97-AF65-F5344CB8AC3E}">
        <p14:creationId xmlns:p14="http://schemas.microsoft.com/office/powerpoint/2010/main" val="1103948877"/>
      </p:ext>
    </p:extLst>
  </p:cSld>
  <p:clrMap bg1="dk1" tx1="lt1" bg2="dk2" tx2="lt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10371D9-F2B8-5B2D-E31B-B6525FE80297}"/>
              </a:ext>
            </a:extLst>
          </p:cNvPr>
          <p:cNvSpPr>
            <a:spLocks noGrp="1"/>
          </p:cNvSpPr>
          <p:nvPr>
            <p:ph type="subTitle" idx="1"/>
          </p:nvPr>
        </p:nvSpPr>
        <p:spPr>
          <a:xfrm>
            <a:off x="1595269" y="4556337"/>
            <a:ext cx="9001462" cy="423777"/>
          </a:xfrm>
        </p:spPr>
        <p:txBody>
          <a:bodyPr vert="horz" lIns="91440" tIns="45720" rIns="91440" bIns="45720" rtlCol="0" anchor="t">
            <a:normAutofit/>
          </a:bodyPr>
          <a:lstStyle/>
          <a:p>
            <a:r>
              <a:rPr lang="en-US" sz="1600">
                <a:latin typeface="Bookman Old Style"/>
              </a:rPr>
              <a:t>By: 2 Henries (one Morgan + one </a:t>
            </a:r>
            <a:r>
              <a:rPr lang="en-US" sz="1600" err="1">
                <a:latin typeface="Bookman Old Style"/>
              </a:rPr>
              <a:t>Beblo</a:t>
            </a:r>
            <a:r>
              <a:rPr lang="en-US" sz="1600">
                <a:latin typeface="Bookman Old Style"/>
              </a:rPr>
              <a:t>), THE Addison Thurston, and A Carter DeLargy</a:t>
            </a:r>
          </a:p>
        </p:txBody>
      </p:sp>
      <p:sp>
        <p:nvSpPr>
          <p:cNvPr id="6" name="TextBox 5">
            <a:extLst>
              <a:ext uri="{FF2B5EF4-FFF2-40B4-BE49-F238E27FC236}">
                <a16:creationId xmlns:a16="http://schemas.microsoft.com/office/drawing/2014/main" id="{DA702E89-9455-7AB8-75B0-2AB569F0DAAC}"/>
              </a:ext>
            </a:extLst>
          </p:cNvPr>
          <p:cNvSpPr txBox="1"/>
          <p:nvPr/>
        </p:nvSpPr>
        <p:spPr>
          <a:xfrm>
            <a:off x="2724042" y="1130686"/>
            <a:ext cx="6732192" cy="1169551"/>
          </a:xfrm>
          <a:prstGeom prst="rect">
            <a:avLst/>
          </a:prstGeom>
          <a:noFill/>
          <a:ln>
            <a:noFill/>
          </a:ln>
        </p:spPr>
        <p:txBody>
          <a:bodyPr wrap="square" lIns="91440" tIns="45720" rIns="91440" bIns="45720" rtlCol="0" anchor="t">
            <a:spAutoFit/>
          </a:bodyPr>
          <a:lstStyle/>
          <a:p>
            <a:r>
              <a:rPr lang="en-US" sz="7000" dirty="0">
                <a:latin typeface="+mj-lt"/>
              </a:rPr>
              <a:t>HackSLU 2026</a:t>
            </a:r>
          </a:p>
        </p:txBody>
      </p:sp>
      <p:sp>
        <p:nvSpPr>
          <p:cNvPr id="7" name="TextBox 6">
            <a:extLst>
              <a:ext uri="{FF2B5EF4-FFF2-40B4-BE49-F238E27FC236}">
                <a16:creationId xmlns:a16="http://schemas.microsoft.com/office/drawing/2014/main" id="{C3677E9D-89DD-0F8B-04D6-217B1DDA439E}"/>
              </a:ext>
            </a:extLst>
          </p:cNvPr>
          <p:cNvSpPr txBox="1"/>
          <p:nvPr/>
        </p:nvSpPr>
        <p:spPr>
          <a:xfrm>
            <a:off x="3595208" y="2732858"/>
            <a:ext cx="4989860" cy="1384995"/>
          </a:xfrm>
          <a:prstGeom prst="rect">
            <a:avLst/>
          </a:prstGeom>
          <a:noFill/>
        </p:spPr>
        <p:txBody>
          <a:bodyPr wrap="square" lIns="91440" tIns="45720" rIns="91440" bIns="45720" rtlCol="0" anchor="t">
            <a:spAutoFit/>
          </a:bodyPr>
          <a:lstStyle/>
          <a:p>
            <a:r>
              <a:rPr lang="en-US" b="1" spc="50" dirty="0">
                <a:ln w="9525" cmpd="sng">
                  <a:solidFill>
                    <a:schemeClr val="accent1"/>
                  </a:solidFill>
                  <a:prstDash val="solid"/>
                </a:ln>
                <a:solidFill>
                  <a:srgbClr val="70AD47">
                    <a:tint val="1000"/>
                  </a:srgbClr>
                </a:solidFill>
                <a:effectLst>
                  <a:glow rad="38100">
                    <a:schemeClr val="accent1">
                      <a:alpha val="40000"/>
                    </a:schemeClr>
                  </a:glow>
                </a:effectLst>
                <a:latin typeface="Bookman Old Style"/>
              </a:rPr>
              <a:t>2HAC Presents:</a:t>
            </a:r>
            <a:endParaRPr lang="en-US" b="1" spc="50" dirty="0">
              <a:ln w="9525" cmpd="sng">
                <a:solidFill>
                  <a:srgbClr val="CE57AB"/>
                </a:solidFill>
                <a:prstDash val="solid"/>
              </a:ln>
              <a:solidFill>
                <a:srgbClr val="70AD47">
                  <a:tint val="1000"/>
                </a:srgbClr>
              </a:solidFill>
              <a:effectLst>
                <a:glow rad="38100">
                  <a:srgbClr val="CE57AB">
                    <a:alpha val="40000"/>
                  </a:srgbClr>
                </a:glow>
              </a:effectLst>
              <a:latin typeface="Bookman Old Style"/>
            </a:endParaRPr>
          </a:p>
          <a:p>
            <a:r>
              <a:rPr lang="en-US" sz="4800" b="1" spc="50" dirty="0">
                <a:ln w="9525" cmpd="sng">
                  <a:solidFill>
                    <a:schemeClr val="accent1"/>
                  </a:solidFill>
                  <a:prstDash val="solid"/>
                </a:ln>
                <a:solidFill>
                  <a:srgbClr val="70AD47">
                    <a:tint val="1000"/>
                  </a:srgbClr>
                </a:solidFill>
                <a:effectLst>
                  <a:glow rad="38100">
                    <a:schemeClr val="accent1">
                      <a:alpha val="40000"/>
                    </a:schemeClr>
                  </a:glow>
                </a:effectLst>
                <a:latin typeface="Bookman Old Style"/>
              </a:rPr>
              <a:t>CanvasCurator</a:t>
            </a:r>
          </a:p>
          <a:p>
            <a:endParaRPr lang="en-US"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2332309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DB4748-7596-1561-C3D7-479D39DD28E1}"/>
              </a:ext>
            </a:extLst>
          </p:cNvPr>
          <p:cNvSpPr txBox="1"/>
          <p:nvPr/>
        </p:nvSpPr>
        <p:spPr>
          <a:xfrm>
            <a:off x="2601028" y="-3145"/>
            <a:ext cx="6989944" cy="769441"/>
          </a:xfrm>
          <a:prstGeom prst="rect">
            <a:avLst/>
          </a:prstGeom>
          <a:noFill/>
        </p:spPr>
        <p:txBody>
          <a:bodyPr wrap="square" rtlCol="0">
            <a:spAutoFit/>
          </a:bodyPr>
          <a:lstStyle/>
          <a:p>
            <a:r>
              <a:rPr lang="en-US" sz="4400" dirty="0">
                <a:latin typeface="+mj-lt"/>
              </a:rPr>
              <a:t>CanvasCurator In Action</a:t>
            </a:r>
          </a:p>
        </p:txBody>
      </p:sp>
      <p:pic>
        <p:nvPicPr>
          <p:cNvPr id="3" name="Picture 2" descr="A screenshot of a computer&#10;&#10;AI-generated content may be incorrect.">
            <a:extLst>
              <a:ext uri="{FF2B5EF4-FFF2-40B4-BE49-F238E27FC236}">
                <a16:creationId xmlns:a16="http://schemas.microsoft.com/office/drawing/2014/main" id="{085F224C-37EB-D375-51FF-7733CA28B37D}"/>
              </a:ext>
            </a:extLst>
          </p:cNvPr>
          <p:cNvPicPr>
            <a:picLocks noChangeAspect="1"/>
          </p:cNvPicPr>
          <p:nvPr/>
        </p:nvPicPr>
        <p:blipFill>
          <a:blip r:embed="rId2"/>
          <a:srcRect l="-48" t="54" r="639" b="-1083"/>
          <a:stretch>
            <a:fillRect/>
          </a:stretch>
        </p:blipFill>
        <p:spPr>
          <a:xfrm>
            <a:off x="4723431" y="786055"/>
            <a:ext cx="7470544" cy="3466569"/>
          </a:xfrm>
          <a:prstGeom prst="rect">
            <a:avLst/>
          </a:prstGeom>
        </p:spPr>
      </p:pic>
      <p:pic>
        <p:nvPicPr>
          <p:cNvPr id="6" name="Picture 5" descr="A screenshot of a computer screen&#10;&#10;AI-generated content may be incorrect.">
            <a:extLst>
              <a:ext uri="{FF2B5EF4-FFF2-40B4-BE49-F238E27FC236}">
                <a16:creationId xmlns:a16="http://schemas.microsoft.com/office/drawing/2014/main" id="{3395D9D6-4FBB-6D1A-98E9-2C7D52D15096}"/>
              </a:ext>
            </a:extLst>
          </p:cNvPr>
          <p:cNvPicPr>
            <a:picLocks noChangeAspect="1"/>
          </p:cNvPicPr>
          <p:nvPr/>
        </p:nvPicPr>
        <p:blipFill>
          <a:blip r:embed="rId3"/>
          <a:stretch>
            <a:fillRect/>
          </a:stretch>
        </p:blipFill>
        <p:spPr>
          <a:xfrm>
            <a:off x="4723140" y="3429378"/>
            <a:ext cx="7467366" cy="3450711"/>
          </a:xfrm>
          <a:prstGeom prst="rect">
            <a:avLst/>
          </a:prstGeom>
        </p:spPr>
      </p:pic>
      <p:pic>
        <p:nvPicPr>
          <p:cNvPr id="8" name="Picture 7">
            <a:extLst>
              <a:ext uri="{FF2B5EF4-FFF2-40B4-BE49-F238E27FC236}">
                <a16:creationId xmlns:a16="http://schemas.microsoft.com/office/drawing/2014/main" id="{DC307431-91F5-0C9D-F20B-3FCCCA7915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122590" y="1938989"/>
            <a:ext cx="5009334" cy="3758575"/>
          </a:xfrm>
          <a:prstGeom prst="rect">
            <a:avLst/>
          </a:prstGeom>
        </p:spPr>
      </p:pic>
    </p:spTree>
    <p:extLst>
      <p:ext uri="{BB962C8B-B14F-4D97-AF65-F5344CB8AC3E}">
        <p14:creationId xmlns:p14="http://schemas.microsoft.com/office/powerpoint/2010/main" val="2401701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23A73468-51C4-DD48-E8CA-766A7953342E}"/>
              </a:ext>
            </a:extLst>
          </p:cNvPr>
          <p:cNvPicPr>
            <a:picLocks noGrp="1" noChangeAspect="1"/>
          </p:cNvPicPr>
          <p:nvPr>
            <p:ph idx="1"/>
          </p:nvPr>
        </p:nvPicPr>
        <p:blipFill>
          <a:blip r:embed="rId2"/>
          <a:stretch>
            <a:fillRect/>
          </a:stretch>
        </p:blipFill>
        <p:spPr>
          <a:xfrm>
            <a:off x="4638349" y="3428534"/>
            <a:ext cx="7552222" cy="3479931"/>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BA0D764B-0F6F-3536-E713-6DE23391E204}"/>
              </a:ext>
            </a:extLst>
          </p:cNvPr>
          <p:cNvPicPr>
            <a:picLocks noChangeAspect="1"/>
          </p:cNvPicPr>
          <p:nvPr/>
        </p:nvPicPr>
        <p:blipFill>
          <a:blip r:embed="rId3"/>
          <a:stretch>
            <a:fillRect/>
          </a:stretch>
        </p:blipFill>
        <p:spPr>
          <a:xfrm>
            <a:off x="2362" y="-10233"/>
            <a:ext cx="7356920" cy="3439863"/>
          </a:xfrm>
          <a:prstGeom prst="rect">
            <a:avLst/>
          </a:prstGeom>
        </p:spPr>
      </p:pic>
    </p:spTree>
    <p:extLst>
      <p:ext uri="{BB962C8B-B14F-4D97-AF65-F5344CB8AC3E}">
        <p14:creationId xmlns:p14="http://schemas.microsoft.com/office/powerpoint/2010/main" val="3399241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program&#10;&#10;AI-generated content may be incorrect.">
            <a:extLst>
              <a:ext uri="{FF2B5EF4-FFF2-40B4-BE49-F238E27FC236}">
                <a16:creationId xmlns:a16="http://schemas.microsoft.com/office/drawing/2014/main" id="{678C1475-AFE0-B703-7085-87D3714060A5}"/>
              </a:ext>
            </a:extLst>
          </p:cNvPr>
          <p:cNvPicPr>
            <a:picLocks noChangeAspect="1"/>
          </p:cNvPicPr>
          <p:nvPr/>
        </p:nvPicPr>
        <p:blipFill>
          <a:blip r:embed="rId2"/>
          <a:stretch>
            <a:fillRect/>
          </a:stretch>
        </p:blipFill>
        <p:spPr>
          <a:xfrm>
            <a:off x="589009" y="950284"/>
            <a:ext cx="11009925" cy="4957323"/>
          </a:xfrm>
          <a:prstGeom prst="rect">
            <a:avLst/>
          </a:prstGeom>
        </p:spPr>
      </p:pic>
    </p:spTree>
    <p:extLst>
      <p:ext uri="{BB962C8B-B14F-4D97-AF65-F5344CB8AC3E}">
        <p14:creationId xmlns:p14="http://schemas.microsoft.com/office/powerpoint/2010/main" val="4277038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8CFD20-BF99-98C0-D6DA-82126B4EA8D6}"/>
              </a:ext>
            </a:extLst>
          </p:cNvPr>
          <p:cNvSpPr txBox="1"/>
          <p:nvPr/>
        </p:nvSpPr>
        <p:spPr>
          <a:xfrm>
            <a:off x="3805444" y="2307682"/>
            <a:ext cx="4581343"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a:t>Geometric Fitter</a:t>
            </a:r>
          </a:p>
          <a:p>
            <a:pPr marL="457200" indent="-457200">
              <a:buFont typeface="Arial"/>
              <a:buChar char="•"/>
            </a:pPr>
            <a:r>
              <a:rPr lang="en-US"/>
              <a:t>Photos of notes are cropped and transformed to display notes as a neat rectangle.</a:t>
            </a:r>
          </a:p>
          <a:p>
            <a:pPr marL="914400" lvl="1" indent="-457200">
              <a:buFont typeface="Courier New"/>
              <a:buChar char="o"/>
            </a:pPr>
            <a:r>
              <a:rPr lang="en-US"/>
              <a:t>Transformation achieved via CV2.</a:t>
            </a:r>
          </a:p>
          <a:p>
            <a:pPr marL="457200" indent="-457200">
              <a:buFont typeface="Arial"/>
              <a:buChar char="•"/>
            </a:pPr>
            <a:r>
              <a:rPr lang="en-US"/>
              <a:t>Photo is prepared for reading by AI.</a:t>
            </a:r>
          </a:p>
        </p:txBody>
      </p:sp>
    </p:spTree>
    <p:extLst>
      <p:ext uri="{BB962C8B-B14F-4D97-AF65-F5344CB8AC3E}">
        <p14:creationId xmlns:p14="http://schemas.microsoft.com/office/powerpoint/2010/main" val="605848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CAF50A-F113-D14D-6F7F-1E2ED3C9C5D4}"/>
              </a:ext>
            </a:extLst>
          </p:cNvPr>
          <p:cNvSpPr txBox="1"/>
          <p:nvPr/>
        </p:nvSpPr>
        <p:spPr>
          <a:xfrm>
            <a:off x="2305667" y="870268"/>
            <a:ext cx="7582455"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a:latin typeface="Bookman Old Style"/>
                <a:ea typeface="Calibri"/>
                <a:cs typeface="Calibri"/>
              </a:rPr>
              <a:t>Handwriting:</a:t>
            </a:r>
            <a:endParaRPr lang="en-US">
              <a:latin typeface="Rockwell" panose="02060603020205020403"/>
              <a:ea typeface="Calibri"/>
              <a:cs typeface="Calibri"/>
            </a:endParaRPr>
          </a:p>
          <a:p>
            <a:pPr algn="ctr"/>
            <a:r>
              <a:rPr lang="en-US" sz="4000">
                <a:latin typeface="Bookman Old Style"/>
                <a:ea typeface="Calibri"/>
                <a:cs typeface="Calibri"/>
              </a:rPr>
              <a:t>Digitalization </a:t>
            </a:r>
            <a:r>
              <a:rPr lang="en-US" sz="3000">
                <a:latin typeface="Bookman Old Style"/>
                <a:ea typeface="Calibri"/>
                <a:cs typeface="Calibri"/>
              </a:rPr>
              <a:t>&amp;</a:t>
            </a:r>
            <a:r>
              <a:rPr lang="en-US" sz="4000">
                <a:latin typeface="Bookman Old Style"/>
                <a:ea typeface="Calibri"/>
                <a:cs typeface="Calibri"/>
              </a:rPr>
              <a:t> Interpretation</a:t>
            </a:r>
            <a:endParaRPr lang="en-US" sz="4000">
              <a:latin typeface="Rockwell" panose="02060603020205020403"/>
              <a:ea typeface="Calibri"/>
              <a:cs typeface="Calibri"/>
            </a:endParaRPr>
          </a:p>
        </p:txBody>
      </p:sp>
      <p:sp>
        <p:nvSpPr>
          <p:cNvPr id="3" name="TextBox 2">
            <a:extLst>
              <a:ext uri="{FF2B5EF4-FFF2-40B4-BE49-F238E27FC236}">
                <a16:creationId xmlns:a16="http://schemas.microsoft.com/office/drawing/2014/main" id="{E648E742-1BDB-D776-7144-E067307C9FC2}"/>
              </a:ext>
            </a:extLst>
          </p:cNvPr>
          <p:cNvSpPr txBox="1"/>
          <p:nvPr/>
        </p:nvSpPr>
        <p:spPr>
          <a:xfrm>
            <a:off x="4643937" y="2196091"/>
            <a:ext cx="290698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Test Cases and Results:</a:t>
            </a:r>
          </a:p>
        </p:txBody>
      </p:sp>
      <p:pic>
        <p:nvPicPr>
          <p:cNvPr id="5" name="Picture 4">
            <a:extLst>
              <a:ext uri="{FF2B5EF4-FFF2-40B4-BE49-F238E27FC236}">
                <a16:creationId xmlns:a16="http://schemas.microsoft.com/office/drawing/2014/main" id="{7BA5B626-FB58-FD72-7886-96926094E7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2743" y="2596201"/>
            <a:ext cx="4026513" cy="4026513"/>
          </a:xfrm>
          <a:prstGeom prst="rect">
            <a:avLst/>
          </a:prstGeom>
        </p:spPr>
      </p:pic>
    </p:spTree>
    <p:extLst>
      <p:ext uri="{BB962C8B-B14F-4D97-AF65-F5344CB8AC3E}">
        <p14:creationId xmlns:p14="http://schemas.microsoft.com/office/powerpoint/2010/main" val="704286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C37930-DD42-09C2-3A7D-1A1E95A87E1A}"/>
              </a:ext>
            </a:extLst>
          </p:cNvPr>
          <p:cNvSpPr txBox="1"/>
          <p:nvPr/>
        </p:nvSpPr>
        <p:spPr>
          <a:xfrm>
            <a:off x="2450124" y="508497"/>
            <a:ext cx="7291751"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t>Simplified Steps</a:t>
            </a:r>
            <a:endParaRPr lang="en-US" dirty="0"/>
          </a:p>
          <a:p>
            <a:pPr marL="800100" lvl="1" indent="-342900">
              <a:buFont typeface="Courier New"/>
              <a:buChar char="o"/>
            </a:pPr>
            <a:r>
              <a:rPr lang="en-US" sz="2000" dirty="0"/>
              <a:t>Handwriting scanned and digitalized via the Google Cloud Vision API</a:t>
            </a:r>
          </a:p>
          <a:p>
            <a:pPr marL="1257300" lvl="2" indent="-342900">
              <a:buFont typeface="Wingdings"/>
              <a:buChar char="§"/>
            </a:pPr>
            <a:r>
              <a:rPr lang="en-US" sz="2000" dirty="0"/>
              <a:t>No text being detected is accounted for</a:t>
            </a:r>
          </a:p>
          <a:p>
            <a:pPr marL="800100" lvl="1" indent="-342900">
              <a:buFont typeface="Courier New"/>
              <a:buChar char="o"/>
            </a:pPr>
            <a:r>
              <a:rPr lang="en-US" sz="2000" dirty="0"/>
              <a:t>Text processed and formatted via Gemini Pro 2.5 API</a:t>
            </a:r>
            <a:endParaRPr lang="en-US" dirty="0"/>
          </a:p>
          <a:p>
            <a:pPr marL="1257300" lvl="2" indent="-342900">
              <a:buFont typeface="Wingdings"/>
              <a:buChar char="§"/>
            </a:pPr>
            <a:r>
              <a:rPr lang="en-US" sz="2000" dirty="0"/>
              <a:t>Output divided by |</a:t>
            </a:r>
          </a:p>
        </p:txBody>
      </p:sp>
      <p:pic>
        <p:nvPicPr>
          <p:cNvPr id="4" name="Picture 3">
            <a:extLst>
              <a:ext uri="{FF2B5EF4-FFF2-40B4-BE49-F238E27FC236}">
                <a16:creationId xmlns:a16="http://schemas.microsoft.com/office/drawing/2014/main" id="{2A2A2B8D-8B24-B3E9-5E5C-A5087E022B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124" y="2640185"/>
            <a:ext cx="3088502" cy="3996884"/>
          </a:xfrm>
          <a:prstGeom prst="rect">
            <a:avLst/>
          </a:prstGeom>
        </p:spPr>
      </p:pic>
      <p:sp>
        <p:nvSpPr>
          <p:cNvPr id="8" name="TextBox 7">
            <a:extLst>
              <a:ext uri="{FF2B5EF4-FFF2-40B4-BE49-F238E27FC236}">
                <a16:creationId xmlns:a16="http://schemas.microsoft.com/office/drawing/2014/main" id="{438C0425-FAEA-0E3E-019A-89D6D9CB0482}"/>
              </a:ext>
            </a:extLst>
          </p:cNvPr>
          <p:cNvSpPr txBox="1"/>
          <p:nvPr/>
        </p:nvSpPr>
        <p:spPr>
          <a:xfrm>
            <a:off x="5971216" y="4705478"/>
            <a:ext cx="4837421" cy="1032270"/>
          </a:xfrm>
          <a:prstGeom prst="rect">
            <a:avLst/>
          </a:prstGeom>
          <a:solidFill>
            <a:schemeClr val="tx2">
              <a:lumMod val="50000"/>
            </a:schemeClr>
          </a:solidFill>
        </p:spPr>
        <p:txBody>
          <a:bodyPr wrap="square">
            <a:spAutoFit/>
          </a:bodyPr>
          <a:lstStyle/>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CSCI-3350-07|Hacke Ferry Bin Handout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Reading|Reading|Please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read the Hacke Ferry Bin handout provided in class.|76|02/20|02/04</a:t>
            </a:r>
          </a:p>
        </p:txBody>
      </p:sp>
      <p:sp>
        <p:nvSpPr>
          <p:cNvPr id="9" name="TextBox 8">
            <a:extLst>
              <a:ext uri="{FF2B5EF4-FFF2-40B4-BE49-F238E27FC236}">
                <a16:creationId xmlns:a16="http://schemas.microsoft.com/office/drawing/2014/main" id="{1E4117D4-E298-D39C-FCC9-001F97EBB2FE}"/>
              </a:ext>
            </a:extLst>
          </p:cNvPr>
          <p:cNvSpPr txBox="1"/>
          <p:nvPr/>
        </p:nvSpPr>
        <p:spPr>
          <a:xfrm>
            <a:off x="5947434" y="4323872"/>
            <a:ext cx="2442492" cy="369332"/>
          </a:xfrm>
          <a:prstGeom prst="rect">
            <a:avLst/>
          </a:prstGeom>
          <a:noFill/>
        </p:spPr>
        <p:txBody>
          <a:bodyPr wrap="square" rtlCol="0">
            <a:spAutoFit/>
          </a:bodyPr>
          <a:lstStyle/>
          <a:p>
            <a:r>
              <a:rPr lang="en-US" dirty="0"/>
              <a:t>Output from Gemini:</a:t>
            </a:r>
          </a:p>
        </p:txBody>
      </p:sp>
    </p:spTree>
    <p:extLst>
      <p:ext uri="{BB962C8B-B14F-4D97-AF65-F5344CB8AC3E}">
        <p14:creationId xmlns:p14="http://schemas.microsoft.com/office/powerpoint/2010/main" val="2770557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E15FFC-A429-53BB-B875-40E556149DCE}"/>
              </a:ext>
            </a:extLst>
          </p:cNvPr>
          <p:cNvSpPr txBox="1"/>
          <p:nvPr/>
        </p:nvSpPr>
        <p:spPr>
          <a:xfrm>
            <a:off x="3593983" y="1815517"/>
            <a:ext cx="500747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latin typeface="Bookman Old Style"/>
                <a:ea typeface="Calibri"/>
                <a:cs typeface="Calibri"/>
              </a:rPr>
              <a:t>Website Development</a:t>
            </a:r>
          </a:p>
        </p:txBody>
      </p:sp>
      <p:sp>
        <p:nvSpPr>
          <p:cNvPr id="6" name="TextBox 5">
            <a:extLst>
              <a:ext uri="{FF2B5EF4-FFF2-40B4-BE49-F238E27FC236}">
                <a16:creationId xmlns:a16="http://schemas.microsoft.com/office/drawing/2014/main" id="{5C74AE4C-59AB-F5C4-BA4A-28EB57D507B3}"/>
              </a:ext>
            </a:extLst>
          </p:cNvPr>
          <p:cNvSpPr txBox="1"/>
          <p:nvPr/>
        </p:nvSpPr>
        <p:spPr>
          <a:xfrm>
            <a:off x="4177933" y="2659309"/>
            <a:ext cx="383247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Assignment or quiz?</a:t>
            </a:r>
          </a:p>
          <a:p>
            <a:pPr marL="285750" indent="-285750">
              <a:buFont typeface="Arial"/>
              <a:buChar char="•"/>
            </a:pPr>
            <a:r>
              <a:rPr lang="en-US"/>
              <a:t>Upload  file or brief description</a:t>
            </a:r>
          </a:p>
          <a:p>
            <a:pPr marL="285750" indent="-285750">
              <a:buFont typeface="Arial"/>
              <a:buChar char="•"/>
            </a:pPr>
            <a:r>
              <a:rPr lang="en-US"/>
              <a:t>Review contents</a:t>
            </a:r>
          </a:p>
          <a:p>
            <a:pPr marL="742950" lvl="1" indent="-285750">
              <a:buFont typeface="Courier New"/>
              <a:buChar char="o"/>
            </a:pPr>
            <a:r>
              <a:rPr lang="en-US"/>
              <a:t>Revise contents</a:t>
            </a:r>
          </a:p>
          <a:p>
            <a:pPr marL="285750" indent="-285750">
              <a:buFont typeface="Arial"/>
              <a:buChar char="•"/>
            </a:pPr>
            <a:r>
              <a:rPr lang="en-US"/>
              <a:t>Press post!</a:t>
            </a:r>
          </a:p>
        </p:txBody>
      </p:sp>
    </p:spTree>
    <p:extLst>
      <p:ext uri="{BB962C8B-B14F-4D97-AF65-F5344CB8AC3E}">
        <p14:creationId xmlns:p14="http://schemas.microsoft.com/office/powerpoint/2010/main" val="2618636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3EF868-484D-FAAD-A9A9-3F0842A71C7B}"/>
              </a:ext>
            </a:extLst>
          </p:cNvPr>
          <p:cNvSpPr txBox="1"/>
          <p:nvPr/>
        </p:nvSpPr>
        <p:spPr>
          <a:xfrm>
            <a:off x="12453402" y="1504856"/>
            <a:ext cx="4795706"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Hello! I, Professor Zilch, would like to request an assignment to be posted for my Geology class, course GEO-1100-09. The assignment must cover the key identifiers of the various rocks and minerals found near volcanos, an assignment of which students shall observe and reflect upon such facets of said rocks and minerals. Let my task be due tomorrow, expected of all geology students. Of course, it is pass/fail, as were all my assignments prior.</a:t>
            </a:r>
          </a:p>
        </p:txBody>
      </p:sp>
      <p:sp>
        <p:nvSpPr>
          <p:cNvPr id="3" name="TextBox 2">
            <a:extLst>
              <a:ext uri="{FF2B5EF4-FFF2-40B4-BE49-F238E27FC236}">
                <a16:creationId xmlns:a16="http://schemas.microsoft.com/office/drawing/2014/main" id="{DDE9ECC5-9C45-744A-C29C-C92B45D189DA}"/>
              </a:ext>
            </a:extLst>
          </p:cNvPr>
          <p:cNvSpPr txBox="1"/>
          <p:nvPr/>
        </p:nvSpPr>
        <p:spPr>
          <a:xfrm>
            <a:off x="2834949" y="901902"/>
            <a:ext cx="652176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latin typeface="Bookman Old Style"/>
              </a:rPr>
              <a:t>Optimizing Canvas for Professors and Students</a:t>
            </a:r>
            <a:endParaRPr lang="en-US"/>
          </a:p>
        </p:txBody>
      </p:sp>
      <p:sp>
        <p:nvSpPr>
          <p:cNvPr id="4" name="TextBox 3">
            <a:extLst>
              <a:ext uri="{FF2B5EF4-FFF2-40B4-BE49-F238E27FC236}">
                <a16:creationId xmlns:a16="http://schemas.microsoft.com/office/drawing/2014/main" id="{EBCF829C-3CAA-6B96-B7A6-3087A29A9B74}"/>
              </a:ext>
            </a:extLst>
          </p:cNvPr>
          <p:cNvSpPr txBox="1"/>
          <p:nvPr/>
        </p:nvSpPr>
        <p:spPr>
          <a:xfrm>
            <a:off x="721647" y="2426095"/>
            <a:ext cx="5063739"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000"/>
              <a:t>For Students</a:t>
            </a:r>
          </a:p>
          <a:p>
            <a:pPr marL="342900" indent="-342900">
              <a:buFont typeface="Arial"/>
              <a:buChar char="•"/>
            </a:pPr>
            <a:r>
              <a:rPr lang="en-US" sz="2400"/>
              <a:t>Information accessibility</a:t>
            </a:r>
          </a:p>
          <a:p>
            <a:pPr marL="342900" indent="-342900">
              <a:buFont typeface="Arial"/>
              <a:buChar char="•"/>
            </a:pPr>
            <a:r>
              <a:rPr lang="en-US" sz="2400"/>
              <a:t>Improved assignment receival</a:t>
            </a:r>
            <a:endParaRPr lang="en-US"/>
          </a:p>
          <a:p>
            <a:pPr marL="342900" indent="-342900">
              <a:buFont typeface="Arial"/>
              <a:buChar char="•"/>
            </a:pPr>
            <a:endParaRPr lang="en-US" sz="2400"/>
          </a:p>
        </p:txBody>
      </p:sp>
      <p:sp>
        <p:nvSpPr>
          <p:cNvPr id="5" name="TextBox 4">
            <a:extLst>
              <a:ext uri="{FF2B5EF4-FFF2-40B4-BE49-F238E27FC236}">
                <a16:creationId xmlns:a16="http://schemas.microsoft.com/office/drawing/2014/main" id="{B30EF1EE-61D3-9D90-1314-5BD4F293A165}"/>
              </a:ext>
            </a:extLst>
          </p:cNvPr>
          <p:cNvSpPr txBox="1"/>
          <p:nvPr/>
        </p:nvSpPr>
        <p:spPr>
          <a:xfrm>
            <a:off x="6401477" y="2426094"/>
            <a:ext cx="506373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000" dirty="0"/>
              <a:t>For Professors</a:t>
            </a:r>
          </a:p>
          <a:p>
            <a:pPr marL="342900" indent="-342900">
              <a:buFont typeface="Arial"/>
              <a:buChar char="•"/>
            </a:pPr>
            <a:r>
              <a:rPr lang="en-US" sz="2400" dirty="0"/>
              <a:t>Streamlined Canvas experience</a:t>
            </a:r>
          </a:p>
          <a:p>
            <a:pPr marL="342900" indent="-342900">
              <a:buFont typeface="Arial"/>
              <a:buChar char="•"/>
            </a:pPr>
            <a:r>
              <a:rPr lang="en-US" sz="2400" dirty="0"/>
              <a:t>Enhanced assignment and quiz posting and creation</a:t>
            </a:r>
          </a:p>
          <a:p>
            <a:pPr marL="342900" indent="-342900">
              <a:buFont typeface="Arial"/>
              <a:buChar char="•"/>
            </a:pPr>
            <a:endParaRPr lang="en-US" sz="2400" dirty="0"/>
          </a:p>
        </p:txBody>
      </p:sp>
    </p:spTree>
    <p:extLst>
      <p:ext uri="{BB962C8B-B14F-4D97-AF65-F5344CB8AC3E}">
        <p14:creationId xmlns:p14="http://schemas.microsoft.com/office/powerpoint/2010/main" val="40187561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D4FE1632-F131-47D3-A814-99E9CD025E2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0c26aa1-7270-4c3e-8987-a7db70efe75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FDEF803F012F54CAD4F98DE9C921DBE" ma:contentTypeVersion="11" ma:contentTypeDescription="Create a new document." ma:contentTypeScope="" ma:versionID="d994b5b5dc175d580302e7a7716f381d">
  <xsd:schema xmlns:xsd="http://www.w3.org/2001/XMLSchema" xmlns:xs="http://www.w3.org/2001/XMLSchema" xmlns:p="http://schemas.microsoft.com/office/2006/metadata/properties" xmlns:ns3="20c26aa1-7270-4c3e-8987-a7db70efe756" targetNamespace="http://schemas.microsoft.com/office/2006/metadata/properties" ma:root="true" ma:fieldsID="56437e740331b4e4738981477eaf299f" ns3:_="">
    <xsd:import namespace="20c26aa1-7270-4c3e-8987-a7db70efe75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c26aa1-7270-4c3e-8987-a7db70efe75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1B48F3-2063-40C2-971E-0799225950CF}">
  <ds:schemaRefs>
    <ds:schemaRef ds:uri="http://schemas.microsoft.com/office/infopath/2007/PartnerControls"/>
    <ds:schemaRef ds:uri="http://purl.org/dc/terms/"/>
    <ds:schemaRef ds:uri="http://schemas.microsoft.com/office/2006/metadata/properties"/>
    <ds:schemaRef ds:uri="http://purl.org/dc/dcmitype/"/>
    <ds:schemaRef ds:uri="http://schemas.microsoft.com/office/2006/documentManagement/types"/>
    <ds:schemaRef ds:uri="http://purl.org/dc/elements/1.1/"/>
    <ds:schemaRef ds:uri="20c26aa1-7270-4c3e-8987-a7db70efe756"/>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7AFB408-244E-4040-900A-840066F32314}">
  <ds:schemaRefs>
    <ds:schemaRef ds:uri="http://schemas.microsoft.com/sharepoint/v3/contenttype/forms"/>
  </ds:schemaRefs>
</ds:datastoreItem>
</file>

<file path=customXml/itemProps3.xml><?xml version="1.0" encoding="utf-8"?>
<ds:datastoreItem xmlns:ds="http://schemas.openxmlformats.org/officeDocument/2006/customXml" ds:itemID="{03E9136D-3B99-40B8-B07E-70EBCA44986A}">
  <ds:schemaRefs>
    <ds:schemaRef ds:uri="20c26aa1-7270-4c3e-8987-a7db70efe75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TM04033921[[fn=Damask]]</Template>
  <TotalTime>0</TotalTime>
  <Words>257</Words>
  <Application>Microsoft Office PowerPoint</Application>
  <PresentationFormat>Widescreen</PresentationFormat>
  <Paragraphs>33</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Bookman Old Style</vt:lpstr>
      <vt:lpstr>Courier New</vt:lpstr>
      <vt:lpstr>Rockwell</vt:lpstr>
      <vt:lpstr>Wingdings</vt:lpstr>
      <vt:lpstr>Damask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Carter DeLargy</dc:creator>
  <cp:lastModifiedBy>Carter DeLargy</cp:lastModifiedBy>
  <cp:revision>2</cp:revision>
  <cp:lastPrinted>2026-02-22T04:03:22Z</cp:lastPrinted>
  <dcterms:created xsi:type="dcterms:W3CDTF">2026-02-22T00:15:15Z</dcterms:created>
  <dcterms:modified xsi:type="dcterms:W3CDTF">2026-02-22T15:24:02Z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0x0101004FDEF803F012F54CAD4F98DE9C921DBE</vt:lpwstr>
  </property>
</Properties>
</file>